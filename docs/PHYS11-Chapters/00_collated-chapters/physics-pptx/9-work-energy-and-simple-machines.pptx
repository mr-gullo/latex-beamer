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949" autoAdjust="0"/>
    <p:restoredTop sz="86395" autoAdjust="0"/>
  </p:normalViewPr>
  <p:slideViewPr>
    <p:cSldViewPr snapToGrid="0" snapToObjects="1">
      <p:cViewPr varScale="1">
        <p:scale>
          <a:sx n="84" d="100"/>
          <a:sy n="84" d="100"/>
        </p:scale>
        <p:origin x="184" y="73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photograph shows a roller coaster cart in an upside down position inside a roller coaster loop of a track</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black and white photograph of James Joule is shown.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cross-section view of a four-story elevator is shown. The first three floors are labeled with h. A person is carrying a television up a flight of stairs on the second floor. Another person is standing on the ground floor, using a pulley to move a television up the floors.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painting of James Watt is shown.</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black and white illustration of an early steam engine is shown.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shows a side view of a roller coaster. People in a cart are at the top of a hill, and the cart is labeled Start. The cart is heading towards a downward slope. The opposite end of the roller coaster is flat and is labeled Finish.</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diagrams are shown side by side. The diagram on the left shows a drawing of a hand pulling a mail out of wood using a lever. The diagram on the right shows an illustration of a lever and a fulcrum. The fulcrum is closer to the left side of the lever than the right side. The distance of the left side of the lever is labeled L subscript r and the distance of the right side is labeled L subscript e. A force vector is pointing down on the left side and is labeled F subscript r, and a force vector is pointing down on the right side and is labeled F subscript e. The equation IMA equals L subscript e over L subscript r is also shown.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diagram of a wheel is shown. The equation IMA equals capital R over lowercase r. A small grey circle is inside a larger blue circle. An arrow labeled lowercase r points from the center of the smaller circle to its edge. An arrow labeled capital R points from the center of the smaller circle to the edge of the larger circle. A mass is attached to the smaller circle and has a force vector, F subscript r, pointing downward from it. Another force vector, F subscript e, points downward and to the right from the edge of the larger circle.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diagrams are shown side-by-side. On the left, an inclined plane is shown. Its horizontal surface distance is labeled L and its height is labeled h. A box is shown on the surface with a force vector that points up the plane. The equation IMA equals L over h is shown. On the right, a wedge is shown. Its horizontal surface distance is labeled L. Its height is labeled t. The equation IMA equals L over t is also shown.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of a screw is shown. It has a long lever, labeled L. P is pitch, the distance between the threads.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Three pulley systems are shown in side-by-side diagrams. The first consists of a single pulley and is shown holding a mass. The mass is labeled with a force vector, F r, that also points downward. Another force vector, F e, is shown pointing downward from the pulley. N equals one is also shown. The second pulley system consists of a single pulley holding a mass. A force vector, F e, points upward from the pulley. N equals two is shown. The last pulley system shows four pulleys holding a mass with a hook. A force vector, F e, points downward from the pulley. N equals four is shown.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illustration shows a pair of hand-held wire cutters.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rPr dirty="0"/>
              <a:t>Physics</a:t>
            </a:r>
          </a:p>
        </p:txBody>
      </p:sp>
      <p:sp>
        <p:nvSpPr>
          <p:cNvPr id="3" name="Subtitle 2"/>
          <p:cNvSpPr>
            <a:spLocks noGrp="1"/>
          </p:cNvSpPr>
          <p:nvPr>
            <p:ph type="subTitle" idx="1"/>
          </p:nvPr>
        </p:nvSpPr>
        <p:spPr>
          <a:xfrm>
            <a:off x="1828800" y="2072269"/>
            <a:ext cx="8534400" cy="1752600"/>
          </a:xfrm>
        </p:spPr>
        <p:txBody>
          <a:bodyPr>
            <a:normAutofit fontScale="92500"/>
          </a:bodyPr>
          <a:lstStyle/>
          <a:p>
            <a:pPr marL="0" lvl="0" indent="0">
              <a:buNone/>
            </a:pPr>
            <a:r>
              <a:t>Chapter 9 Work, Energy, and Simple Machines</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Work, Power, and the Work–Energy Theorem</a:t>
            </a:r>
          </a:p>
          <a:p>
            <a:pPr marL="457189" lvl="0" indent="-457189">
              <a:buAutoNum type="arabicPeriod"/>
            </a:pPr>
            <a:r>
              <a:t>Mechanical Energy and Conservation of Energy</a:t>
            </a:r>
          </a:p>
          <a:p>
            <a:pPr marL="457189" lvl="0" indent="-457189">
              <a:buAutoNum type="arabicPeriod"/>
            </a:pPr>
            <a:r>
              <a:t>Simple Machines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9.1</a:t>
            </a:r>
          </a:p>
        </p:txBody>
      </p:sp>
      <p:pic>
        <p:nvPicPr>
          <p:cNvPr id="3" name="Picture 1" descr="A photograph shows a roller coaster cart in an upside down position inside a roller coaster loop of a track"/>
          <p:cNvPicPr>
            <a:picLocks noGrp="1" noChangeAspect="1"/>
          </p:cNvPicPr>
          <p:nvPr/>
        </p:nvPicPr>
        <p:blipFill>
          <a:blip r:embed="rId3"/>
          <a:stretch>
            <a:fillRect/>
          </a:stretch>
        </p:blipFill>
        <p:spPr bwMode="auto">
          <a:xfrm>
            <a:off x="1765300" y="952500"/>
            <a:ext cx="8661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People on a roller coaster experience thrills caused by changes in types of energy. (Jonrev, Wikimedia Commons)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9.2</a:t>
            </a:r>
          </a:p>
        </p:txBody>
      </p:sp>
      <p:pic>
        <p:nvPicPr>
          <p:cNvPr id="3" name="Picture 1" descr="A black and white photograph of James Joule is shown."/>
          <p:cNvPicPr>
            <a:picLocks noGrp="1" noChangeAspect="1"/>
          </p:cNvPicPr>
          <p:nvPr/>
        </p:nvPicPr>
        <p:blipFill>
          <a:blip r:embed="rId3"/>
          <a:stretch>
            <a:fillRect/>
          </a:stretch>
        </p:blipFill>
        <p:spPr bwMode="auto">
          <a:xfrm>
            <a:off x="3873500" y="952500"/>
            <a:ext cx="4457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joule is named after physicist James Joule (1818–1889). (C. H. Jeens, Wikimedia Commons)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9.3</a:t>
            </a:r>
          </a:p>
        </p:txBody>
      </p:sp>
      <p:pic>
        <p:nvPicPr>
          <p:cNvPr id="3" name="Picture 1" descr="A cross-section view of a four-story elevator is shown. The first three floors are labeled with h. A person is carrying a television up a flight of stairs on the second floor. Another person is standing on the ground floor, using a pulley to move a television up the floors."/>
          <p:cNvPicPr>
            <a:picLocks noGrp="1" noChangeAspect="1"/>
          </p:cNvPicPr>
          <p:nvPr/>
        </p:nvPicPr>
        <p:blipFill>
          <a:blip r:embed="rId3"/>
          <a:stretch>
            <a:fillRect/>
          </a:stretch>
        </p:blipFill>
        <p:spPr bwMode="auto">
          <a:xfrm>
            <a:off x="4965700" y="952500"/>
            <a:ext cx="2260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No matter how you move a TV to the fourth floor, the amount of work performed and the potential energy gain are the same.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9.4</a:t>
            </a:r>
          </a:p>
        </p:txBody>
      </p:sp>
      <p:pic>
        <p:nvPicPr>
          <p:cNvPr id="3" name="Picture 1" descr="A painting of James Watt is shown."/>
          <p:cNvPicPr>
            <a:picLocks noGrp="1" noChangeAspect="1"/>
          </p:cNvPicPr>
          <p:nvPr/>
        </p:nvPicPr>
        <p:blipFill>
          <a:blip r:embed="rId3"/>
          <a:stretch>
            <a:fillRect/>
          </a:stretch>
        </p:blipFill>
        <p:spPr bwMode="auto">
          <a:xfrm>
            <a:off x="4241800" y="952500"/>
            <a:ext cx="3721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Is James Watt thinking about watts? (Carl Frederik von Breda, Wikimedia Commons)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9.5</a:t>
            </a:r>
          </a:p>
        </p:txBody>
      </p:sp>
      <p:pic>
        <p:nvPicPr>
          <p:cNvPr id="3" name="Picture 1" descr="A black and white illustration of an early steam engine is shown."/>
          <p:cNvPicPr>
            <a:picLocks noGrp="1" noChangeAspect="1"/>
          </p:cNvPicPr>
          <p:nvPr/>
        </p:nvPicPr>
        <p:blipFill>
          <a:blip r:embed="rId3"/>
          <a:stretch>
            <a:fillRect/>
          </a:stretch>
        </p:blipFill>
        <p:spPr bwMode="auto">
          <a:xfrm>
            <a:off x="4241800" y="952500"/>
            <a:ext cx="3708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late version of the Watt steam engine. (Nehemiah Hawkins, Wikimedia Commons)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9.6</a:t>
            </a:r>
          </a:p>
        </p:txBody>
      </p:sp>
      <p:pic>
        <p:nvPicPr>
          <p:cNvPr id="3" name="Picture 1" descr="An illustration shows a side view of a roller coaster. People in a cart are at the top of a hill, and the cart is labeled Start. The cart is heading towards a downward slope. The opposite end of the roller coaster is flat and is labeled Finish."/>
          <p:cNvPicPr>
            <a:picLocks noGrp="1" noChangeAspect="1"/>
          </p:cNvPicPr>
          <p:nvPr/>
        </p:nvPicPr>
        <p:blipFill>
          <a:blip r:embed="rId3"/>
          <a:stretch>
            <a:fillRect/>
          </a:stretch>
        </p:blipFill>
        <p:spPr bwMode="auto">
          <a:xfrm>
            <a:off x="609600" y="1219200"/>
            <a:ext cx="10972800" cy="41275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During this roller coaster ride, there are conversions between potential and kinetic energy.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9.7</a:t>
            </a:r>
          </a:p>
        </p:txBody>
      </p:sp>
      <p:pic>
        <p:nvPicPr>
          <p:cNvPr id="3" name="Picture 1" descr="Two diagrams are shown side by side. The diagram on the left shows a drawing of a hand pulling a mail out of wood using a lever. The diagram on the right shows an illustration of a lever and a fulcrum. The fulcrum is closer to the left side of the lever than the right side. The distance of the left side of the lever is labeled L subscript r and the distance of the right side is labeled L subscript e. A force vector is pointing down on the left side and is labeled F subscript r, and a force vector is pointing down on the right side and is labeled F subscript e. The equation IMA equals L subscript e over L subscript r is also shown."/>
          <p:cNvPicPr>
            <a:picLocks noGrp="1" noChangeAspect="1"/>
          </p:cNvPicPr>
          <p:nvPr/>
        </p:nvPicPr>
        <p:blipFill>
          <a:blip r:embed="rId3"/>
          <a:stretch>
            <a:fillRect/>
          </a:stretch>
        </p:blipFill>
        <p:spPr bwMode="auto">
          <a:xfrm>
            <a:off x="609600" y="1371600"/>
            <a:ext cx="10972800" cy="38354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A pry bar is a type of lever. (b) The ideal mechanical advantage equals the length of the effort arm divided by the length of the resistance arm of a lever.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9.8</a:t>
            </a:r>
          </a:p>
        </p:txBody>
      </p:sp>
      <p:pic>
        <p:nvPicPr>
          <p:cNvPr id="3" name="Picture 1" descr="A diagram of a wheel is shown. The equation IMA equals capital R over lowercase r. A small grey circle is inside a larger blue circle. An arrow labeled lowercase r points from the center of the smaller circle to its edge. An arrow labeled capital R points from the center of the smaller circle to the edge of the larger circle. A mass is attached to the smaller circle and has a force vector, F subscript r, pointing downward from it. Another force vector, F subscript e, points downward and to the right from the edge of the larger circle."/>
          <p:cNvPicPr>
            <a:picLocks noGrp="1" noChangeAspect="1"/>
          </p:cNvPicPr>
          <p:nvPr/>
        </p:nvPicPr>
        <p:blipFill>
          <a:blip r:embed="rId3"/>
          <a:stretch>
            <a:fillRect/>
          </a:stretch>
        </p:blipFill>
        <p:spPr bwMode="auto">
          <a:xfrm>
            <a:off x="2603500" y="952500"/>
            <a:ext cx="6985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Force applied to a wheel exerts a force on its axle.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9.9</a:t>
            </a:r>
          </a:p>
        </p:txBody>
      </p:sp>
      <p:pic>
        <p:nvPicPr>
          <p:cNvPr id="3" name="Picture 1" descr="Two diagrams are shown side-by-side. On the left, an inclined plane is shown. Its horizontal surface distance is labeled L and its height is labeled h. A box is shown on the surface with a force vector that points up the plane. The equation IMA equals L over h is shown. On the right, a wedge is shown. Its horizontal surface distance is labeled L. Its height is labeled t. The equation IMA equals L over t is also shown."/>
          <p:cNvPicPr>
            <a:picLocks noGrp="1" noChangeAspect="1"/>
          </p:cNvPicPr>
          <p:nvPr/>
        </p:nvPicPr>
        <p:blipFill>
          <a:blip r:embed="rId3"/>
          <a:stretch>
            <a:fillRect/>
          </a:stretch>
        </p:blipFill>
        <p:spPr bwMode="auto">
          <a:xfrm>
            <a:off x="609600" y="1422400"/>
            <a:ext cx="10972800" cy="37211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inclined plane is shown on the left, and a wedge is shown on the right.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9.10</a:t>
            </a:r>
          </a:p>
        </p:txBody>
      </p:sp>
      <p:pic>
        <p:nvPicPr>
          <p:cNvPr id="3" name="Picture 1" descr="An illustration of a screw is shown. It has a long lever, labeled L. P is pitch, the distance between the threads."/>
          <p:cNvPicPr>
            <a:picLocks noGrp="1" noChangeAspect="1"/>
          </p:cNvPicPr>
          <p:nvPr/>
        </p:nvPicPr>
        <p:blipFill>
          <a:blip r:embed="rId3"/>
          <a:stretch>
            <a:fillRect/>
          </a:stretch>
        </p:blipFill>
        <p:spPr bwMode="auto">
          <a:xfrm>
            <a:off x="3556000" y="952500"/>
            <a:ext cx="5080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screw shown here is used to lift very heavy objects, like the corner of a car or a house a short distance.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9.11</a:t>
            </a:r>
          </a:p>
        </p:txBody>
      </p:sp>
      <p:pic>
        <p:nvPicPr>
          <p:cNvPr id="3" name="Picture 1" descr="Three pulley systems are shown in side-by-side diagrams. The first consists of a single pulley and is shown holding a mass. The mass is labeled with a force vector, F r, that also points downward. Another force vector, F e, is shown pointing downward from the pulley. N equals one is also shown. The second pulley system consists of a single pulley holding a mass. A force vector, F e, points upward from the pulley. N equals two is shown. The last pulley system shows four pulleys holding a mass with a hook. A force vector, F e, points downward from the pulley. N equals four is shown."/>
          <p:cNvPicPr>
            <a:picLocks noGrp="1" noChangeAspect="1"/>
          </p:cNvPicPr>
          <p:nvPr/>
        </p:nvPicPr>
        <p:blipFill>
          <a:blip r:embed="rId3"/>
          <a:stretch>
            <a:fillRect/>
          </a:stretch>
        </p:blipFill>
        <p:spPr bwMode="auto">
          <a:xfrm>
            <a:off x="2692400" y="952500"/>
            <a:ext cx="6794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Three pulley systems are shown here.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rPr dirty="0"/>
              <a:t>Figure 9.12</a:t>
            </a:r>
          </a:p>
        </p:txBody>
      </p:sp>
      <p:pic>
        <p:nvPicPr>
          <p:cNvPr id="3" name="Picture 1" descr="An illustration shows a pair of hand-held wire cutters."/>
          <p:cNvPicPr>
            <a:picLocks noGrp="1" noChangeAspect="1"/>
          </p:cNvPicPr>
          <p:nvPr/>
        </p:nvPicPr>
        <p:blipFill>
          <a:blip r:embed="rId3"/>
          <a:stretch>
            <a:fillRect/>
          </a:stretch>
        </p:blipFill>
        <p:spPr bwMode="auto">
          <a:xfrm>
            <a:off x="609600" y="965200"/>
            <a:ext cx="10972800" cy="46482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Wire cutters are a common complex machine.</a:t>
            </a:r>
          </a:p>
        </p:txBody>
      </p:sp>
      <p:sp>
        <p:nvSpPr>
          <p:cNvPr id="5" name="TextBox 4">
            <a:extLst>
              <a:ext uri="{FF2B5EF4-FFF2-40B4-BE49-F238E27FC236}">
                <a16:creationId xmlns:a16="http://schemas.microsoft.com/office/drawing/2014/main" id="{4FE13949-D795-BC7C-8CBC-00737CE198E1}"/>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1009</Words>
  <Application>Microsoft Macintosh PowerPoint</Application>
  <PresentationFormat>Widescreen</PresentationFormat>
  <Paragraphs>55</Paragraphs>
  <Slides>14</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Physics</vt:lpstr>
      <vt:lpstr>Chapter outline</vt:lpstr>
      <vt:lpstr>Figure 9.1</vt:lpstr>
      <vt:lpstr>Figure 9.2</vt:lpstr>
      <vt:lpstr>Figure 9.3</vt:lpstr>
      <vt:lpstr>Figure 9.4</vt:lpstr>
      <vt:lpstr>Figure 9.5</vt:lpstr>
      <vt:lpstr>Figure 9.6</vt:lpstr>
      <vt:lpstr>Figure 9.7</vt:lpstr>
      <vt:lpstr>Figure 9.8</vt:lpstr>
      <vt:lpstr>Figure 9.9</vt:lpstr>
      <vt:lpstr>Figure 9.10</vt:lpstr>
      <vt:lpstr>Figure 9.11</vt:lpstr>
      <vt:lpstr>Figure 9.12</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2025-12-17T21:03:53Z</dcterms:created>
  <dcterms:modified xsi:type="dcterms:W3CDTF">2025-12-17T21:30:43Z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9 Work, Energy, and Simple Machines</vt:lpwstr>
  </property>
</Properties>
</file>