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84" autoAdjust="0"/>
    <p:restoredTop sz="94694" autoAdjust="0"/>
  </p:normalViewPr>
  <p:slideViewPr>
    <p:cSldViewPr snapToGrid="0" snapToObjects="1">
      <p:cViewPr varScale="1">
        <p:scale>
          <a:sx n="104" d="100"/>
          <a:sy n="104" d="100"/>
        </p:scale>
        <p:origin x="232" y="56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hf sldNum="0" hdr="0" ftr="0" dt="0"/>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 ocean whitecap crashes near two surfers and three boats.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seagull bobs up and down on a sine-wave-shaped periodic ocean wave.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woman moves a slinky up and down, creating transverse waves that propagate horizontally away from her while disturbing the slinky vertically.</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woman stretches and compresses a slinky horizontally, creating longitudinal waves that propagate horizontally away from her and disturbing the slinky horizontally as well.</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guitar string is disturbed vertically but travels horizontally. Sound travels from the guitar, through an amplifier, out of a speaker, and to a piece of paper, which vibrates back and forth with the waves of compression.</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surfer glides down a giant wave while another surfer watches from the wave’s crest.</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seagull bobs up and down on a sinusoidal-shaped periodic ocean wave with a given wave velocity of νw. The wavelength λ is shown as the distance from one crest to the next crest. The amplitude X is shown as the distance between the resting position and the crest. The total distance traveled by the seagull in one cycle or period is shown as 2X.</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smaller speaker emits a high-frequency sound wave with a small wavelength, while a larger speaker emits a lower-frequency sound wave with a larger wavelength.</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town with collapsed buildings after an earthquake.</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Waves ripple across a lake by the mountains.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Wave 1 and wave 2 are perfectly in phase, and their resultant has twice the amplitude of each individual wave.</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Wave 1 and wave 2 are perfectly out of phase, and their resultant has zero amplitude.</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Wave 1 has a large amplitude and a low frequency. Wave 2 has a small amplitude and a high frequency. The resultant is squiggly, without a perfect sinusoidal shape.</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Two identical waves moving in opposite directions alternate between creating no disturbance during destructive interference and doubling the disturbance during constructive interference.</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One antinode and two nodes are created by a single standing wave.</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Two antinodes and three nodes are created by two standing waves. Three antinodes and four nodes are created by three standing waves.</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wave travels to the right, hits the fixed end, flips vertically, and travels to the left.</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wave bends slightly to the right of its original path as it crosses the line into another medium.</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noAutofit/>
          </a:bodyPr>
          <a:lstStyle>
            <a:lvl1pPr algn="ctr">
              <a:defRPr sz="6000" b="0" i="0" baseline="0">
                <a:solidFill>
                  <a:srgbClr val="70AD47"/>
                </a:solidFill>
                <a:latin typeface="+mj-lt"/>
                <a:cs typeface="Calibri" panose="020F0502020204030204" pitchFamily="34" charset="0"/>
              </a:defRPr>
            </a:lvl1pPr>
          </a:lstStyle>
          <a:p>
            <a:r>
              <a:rPr lang="en-US" dirty="0"/>
              <a:t>Title of the Book</a:t>
            </a:r>
          </a:p>
        </p:txBody>
      </p:sp>
      <p:sp>
        <p:nvSpPr>
          <p:cNvPr id="3" name="Subtitle 2"/>
          <p:cNvSpPr>
            <a:spLocks noGrp="1"/>
          </p:cNvSpPr>
          <p:nvPr>
            <p:ph type="subTitle" idx="1"/>
          </p:nvPr>
        </p:nvSpPr>
        <p:spPr>
          <a:xfrm>
            <a:off x="1828800" y="2072269"/>
            <a:ext cx="8534400" cy="1752600"/>
          </a:xfrm>
        </p:spPr>
        <p:txBody>
          <a:bodyPr>
            <a:normAutofit/>
          </a:bodyPr>
          <a:lstStyle>
            <a:lvl1pPr marL="0" indent="0" algn="ctr">
              <a:buNone/>
              <a:defRPr sz="3733">
                <a:solidFill>
                  <a:schemeClr val="tx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Click to edit Master subtitle style</a:t>
            </a:r>
          </a:p>
        </p:txBody>
      </p:sp>
      <p:sp>
        <p:nvSpPr>
          <p:cNvPr id="5" name="Footer Placeholder 4"/>
          <p:cNvSpPr>
            <a:spLocks noGrp="1"/>
          </p:cNvSpPr>
          <p:nvPr>
            <p:ph type="ftr" sz="quarter" idx="11"/>
          </p:nvPr>
        </p:nvSpPr>
        <p:spPr/>
        <p:txBody>
          <a:bodyPr/>
          <a:lstStyle/>
          <a:p>
            <a:endParaRPr lang="en-US"/>
          </a:p>
        </p:txBody>
      </p:sp>
      <p:sp>
        <p:nvSpPr>
          <p:cNvPr id="8" name="Picture Placeholder 7">
            <a:extLst>
              <a:ext uri="{FF2B5EF4-FFF2-40B4-BE49-F238E27FC236}">
                <a16:creationId xmlns:a16="http://schemas.microsoft.com/office/drawing/2014/main" id="{80A79003-2626-1D8F-FE0B-0F12900E5EC8}"/>
              </a:ext>
            </a:extLst>
          </p:cNvPr>
          <p:cNvSpPr>
            <a:spLocks noGrp="1"/>
          </p:cNvSpPr>
          <p:nvPr>
            <p:ph type="pic" sz="quarter" idx="13"/>
          </p:nvPr>
        </p:nvSpPr>
        <p:spPr>
          <a:xfrm>
            <a:off x="1828800" y="3924300"/>
            <a:ext cx="8534400" cy="2319867"/>
          </a:xfrm>
        </p:spPr>
        <p:txBody>
          <a:bodyPr>
            <a:normAutofit/>
          </a:bodyPr>
          <a:lstStyle>
            <a:lvl1pPr>
              <a:defRPr sz="2800"/>
            </a:lvl1pPr>
          </a:lstStyle>
          <a:p>
            <a:endParaRPr lang="en-US" dirty="0"/>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609600" y="952501"/>
            <a:ext cx="10972800" cy="5173664"/>
          </a:xfr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solidFill>
                  <a:srgbClr val="70AD47"/>
                </a:solidFill>
              </a:defRPr>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Content Placeholder 3"/>
          <p:cNvSpPr>
            <a:spLocks noGrp="1"/>
          </p:cNvSpPr>
          <p:nvPr>
            <p:ph sz="half" idx="2"/>
          </p:nvPr>
        </p:nvSpPr>
        <p:spPr>
          <a:xfrm>
            <a:off x="6197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6" name="Footer Placeholder 5"/>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55A695E3-160A-1182-A08B-49F893982D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054101"/>
            <a:ext cx="5386917"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1693863"/>
            <a:ext cx="5386917" cy="4432300"/>
          </a:xfrm>
        </p:spPr>
        <p:txBody>
          <a:bodyPr/>
          <a:lstStyle>
            <a:lvl1pPr marL="342900" indent="-342900">
              <a:buFont typeface="Arial" panose="020B0604020202020204" pitchFamily="34" charset="0"/>
              <a:buChar cha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Text Placeholder 4"/>
          <p:cNvSpPr>
            <a:spLocks noGrp="1"/>
          </p:cNvSpPr>
          <p:nvPr>
            <p:ph type="body" sz="quarter" idx="3"/>
          </p:nvPr>
        </p:nvSpPr>
        <p:spPr>
          <a:xfrm>
            <a:off x="6193369" y="1054100"/>
            <a:ext cx="5389033"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1693863"/>
            <a:ext cx="5389033" cy="44323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8" name="Footer Placeholder 7"/>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48293EA6-65EB-EBFA-B114-8CE108578312}"/>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DCC07829-38D8-F49A-78AA-2EAC35A1A3B6}"/>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a:prstGeom prst="rect">
            <a:avLst/>
          </a:prstGeom>
        </p:spPr>
        <p:txBody>
          <a:bodyPr anchor="b"/>
          <a:lstStyle>
            <a:lvl1pPr algn="l">
              <a:defRPr sz="2000" b="1">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4766733" y="27305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1244600"/>
          </a:xfrm>
          <a:prstGeom prst="rect">
            <a:avLst/>
          </a:prstGeom>
        </p:spPr>
        <p:txBody>
          <a:bodyPr anchor="t">
            <a:normAutofit/>
          </a:bodyPr>
          <a:lstStyle>
            <a:lvl1pPr algn="l">
              <a:defRPr sz="1600" b="0"/>
            </a:lvl1pPr>
          </a:lstStyle>
          <a:p>
            <a:r>
              <a:rPr lang="en-US" dirty="0"/>
              <a:t>Click to edit Master title style</a:t>
            </a:r>
          </a:p>
        </p:txBody>
      </p:sp>
      <p:sp>
        <p:nvSpPr>
          <p:cNvPr id="3" name="Picture Placeholder 2"/>
          <p:cNvSpPr>
            <a:spLocks noGrp="1"/>
          </p:cNvSpPr>
          <p:nvPr>
            <p:ph type="pic" idx="1"/>
          </p:nvPr>
        </p:nvSpPr>
        <p:spPr>
          <a:xfrm>
            <a:off x="2389717" y="612775"/>
            <a:ext cx="7315200" cy="4114800"/>
          </a:xfrm>
        </p:spPr>
        <p:txBody>
          <a:bodyPr>
            <a:normAutofit/>
          </a:bodyPr>
          <a:lstStyle>
            <a:lvl1pPr marL="0" indent="0">
              <a:buNone/>
              <a:defRPr sz="2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7" name="Content Placeholder 6"/>
          <p:cNvSpPr>
            <a:spLocks noGrp="1"/>
          </p:cNvSpPr>
          <p:nvPr>
            <p:ph sz="quarter" idx="12"/>
          </p:nvPr>
        </p:nvSpPr>
        <p:spPr>
          <a:xfrm>
            <a:off x="609600" y="1011383"/>
            <a:ext cx="10972800" cy="3255818"/>
          </a:xfrm>
        </p:spPr>
        <p:txBody>
          <a:bodyPr/>
          <a:lstStyle>
            <a:lvl5pPr marL="1828800" indent="0">
              <a:buNone/>
              <a:defRPr/>
            </a:lvl5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Content Placeholder 6"/>
          <p:cNvSpPr>
            <a:spLocks noGrp="1"/>
          </p:cNvSpPr>
          <p:nvPr>
            <p:ph sz="quarter" idx="13" hasCustomPrompt="1"/>
          </p:nvPr>
        </p:nvSpPr>
        <p:spPr>
          <a:xfrm>
            <a:off x="609600" y="4378037"/>
            <a:ext cx="10972800" cy="1627909"/>
          </a:xfrm>
        </p:spPr>
        <p:txBody>
          <a:bodyPr>
            <a:normAutofit/>
          </a:bodyPr>
          <a:lstStyle>
            <a:lvl1pPr marL="0" indent="0">
              <a:buNone/>
              <a:defRPr sz="1600">
                <a:solidFill>
                  <a:schemeClr val="accent3"/>
                </a:solidFill>
              </a:defRPr>
            </a:lvl1pPr>
          </a:lstStyle>
          <a:p>
            <a:pPr lvl="0"/>
            <a:r>
              <a:rPr lang="en-US" dirty="0"/>
              <a:t>Caption</a:t>
            </a:r>
          </a:p>
        </p:txBody>
      </p:sp>
      <p:sp>
        <p:nvSpPr>
          <p:cNvPr id="6" name="Text Placeholder 5">
            <a:extLst>
              <a:ext uri="{FF2B5EF4-FFF2-40B4-BE49-F238E27FC236}">
                <a16:creationId xmlns:a16="http://schemas.microsoft.com/office/drawing/2014/main" id="{6E14F94F-1E52-2B42-BC75-C0C106E8BEC0}"/>
              </a:ext>
            </a:extLst>
          </p:cNvPr>
          <p:cNvSpPr>
            <a:spLocks noGrp="1"/>
          </p:cNvSpPr>
          <p:nvPr>
            <p:ph type="body" sz="quarter" idx="14" hasCustomPrompt="1"/>
          </p:nvPr>
        </p:nvSpPr>
        <p:spPr>
          <a:xfrm>
            <a:off x="838200" y="6271576"/>
            <a:ext cx="10515600" cy="442595"/>
          </a:xfrm>
        </p:spPr>
        <p:txBody>
          <a:bodyPr>
            <a:normAutofit/>
          </a:bodyPr>
          <a:lstStyle>
            <a:lvl1pPr marL="0" indent="0" algn="l">
              <a:buNone/>
              <a:defRPr sz="1200">
                <a:solidFill>
                  <a:schemeClr val="tx1"/>
                </a:solidFill>
              </a:defRPr>
            </a:lvl1pPr>
          </a:lstStyle>
          <a:p>
            <a:pPr algn="l"/>
            <a:r>
              <a:rPr lang="en-US" dirty="0"/>
              <a:t>This OpenStax ancillary resource is © Rice University under a CC BY 4.0 International license; it may be reproduced or modified but must be attributed to OpenStax, Rice University and any changes must be noted.</a:t>
            </a:r>
          </a:p>
        </p:txBody>
      </p:sp>
      <p:sp>
        <p:nvSpPr>
          <p:cNvPr id="3" name="Title 1">
            <a:extLst>
              <a:ext uri="{FF2B5EF4-FFF2-40B4-BE49-F238E27FC236}">
                <a16:creationId xmlns:a16="http://schemas.microsoft.com/office/drawing/2014/main" id="{75AFEFD2-D28D-C54F-70F8-461EEBE63A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188312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a:prstGeom prst="rect">
            <a:avLst/>
          </a:prstGeo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139147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38539"/>
            <a:ext cx="10972800" cy="58696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927101"/>
            <a:ext cx="10972800" cy="5199064"/>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3"/>
          </p:nvPr>
        </p:nvSpPr>
        <p:spPr>
          <a:xfrm>
            <a:off x="609600" y="6356351"/>
            <a:ext cx="10972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58" r:id="rId11"/>
    <p:sldLayoutId id="2147483659" r:id="rId12"/>
  </p:sldLayoutIdLst>
  <p:hf sldNum="0" hdr="0" ftr="0"/>
  <p:txStyles>
    <p:titleStyle>
      <a:lvl1pPr algn="l" defTabSz="457189" rtl="0" eaLnBrk="1" latinLnBrk="0" hangingPunct="1">
        <a:spcBef>
          <a:spcPct val="0"/>
        </a:spcBef>
        <a:buNone/>
        <a:defRPr sz="2800" kern="1200">
          <a:solidFill>
            <a:schemeClr val="tx1"/>
          </a:solidFill>
          <a:latin typeface="+mj-lt"/>
          <a:ea typeface="+mj-ea"/>
          <a:cs typeface="+mj-cs"/>
        </a:defRPr>
      </a:lvl1pPr>
    </p:titleStyle>
    <p:bodyStyle>
      <a:lvl1pPr marL="457200" indent="-228600" algn="l" defTabSz="457189" rtl="0" eaLnBrk="1" latinLnBrk="0" hangingPunct="1">
        <a:spcBef>
          <a:spcPts val="0"/>
        </a:spcBef>
        <a:buFont typeface="Arial" panose="020B0604020202020204" pitchFamily="34" charset="0"/>
        <a:buChar char="•"/>
        <a:defRPr sz="3200" kern="1200">
          <a:solidFill>
            <a:schemeClr val="tx1"/>
          </a:solidFill>
          <a:latin typeface="+mn-lt"/>
          <a:ea typeface="+mn-ea"/>
          <a:cs typeface="+mn-cs"/>
        </a:defRPr>
      </a:lvl1pPr>
      <a:lvl2pPr marL="685800" indent="-228600" algn="l" defTabSz="457189"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457189"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743131" indent="-457189" algn="l" defTabSz="457189" rtl="0" eaLnBrk="1" latinLnBrk="0" hangingPunct="1">
        <a:spcBef>
          <a:spcPct val="20000"/>
        </a:spcBef>
        <a:buFont typeface="Arial"/>
        <a:buChar char="•"/>
        <a:defRPr sz="2000" kern="1200">
          <a:solidFill>
            <a:schemeClr val="tx1"/>
          </a:solidFill>
          <a:latin typeface="+mn-lt"/>
          <a:ea typeface="+mn-ea"/>
          <a:cs typeface="+mn-cs"/>
        </a:defRPr>
      </a:lvl6pPr>
      <a:lvl7pPr marL="3200320" indent="-457189" algn="l" defTabSz="457189" rtl="0" eaLnBrk="1" latinLnBrk="0" hangingPunct="1">
        <a:spcBef>
          <a:spcPct val="20000"/>
        </a:spcBef>
        <a:buFont typeface="Arial"/>
        <a:buChar char="•"/>
        <a:defRPr sz="2000" kern="1200">
          <a:solidFill>
            <a:schemeClr val="tx1"/>
          </a:solidFill>
          <a:latin typeface="+mn-lt"/>
          <a:ea typeface="+mn-ea"/>
          <a:cs typeface="+mn-cs"/>
        </a:defRPr>
      </a:lvl7pPr>
      <a:lvl8pPr marL="3657509" indent="-457189" algn="l" defTabSz="457189" rtl="0" eaLnBrk="1" latinLnBrk="0" hangingPunct="1">
        <a:spcBef>
          <a:spcPct val="20000"/>
        </a:spcBef>
        <a:buFont typeface="Arial"/>
        <a:buChar char="•"/>
        <a:defRPr sz="2000" kern="1200">
          <a:solidFill>
            <a:schemeClr val="tx1"/>
          </a:solidFill>
          <a:latin typeface="+mn-lt"/>
          <a:ea typeface="+mn-ea"/>
          <a:cs typeface="+mn-cs"/>
        </a:defRPr>
      </a:lvl8pPr>
      <a:lvl9pPr marL="4114697" indent="-457189"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lstStyle/>
          <a:p>
            <a:pPr marL="0" lvl="0" indent="0">
              <a:buNone/>
            </a:pPr>
            <a:r>
              <a:t>Physics</a:t>
            </a:r>
          </a:p>
        </p:txBody>
      </p:sp>
      <p:sp>
        <p:nvSpPr>
          <p:cNvPr id="3" name="Subtitle 2"/>
          <p:cNvSpPr>
            <a:spLocks noGrp="1"/>
          </p:cNvSpPr>
          <p:nvPr>
            <p:ph type="subTitle" idx="1"/>
          </p:nvPr>
        </p:nvSpPr>
        <p:spPr>
          <a:xfrm>
            <a:off x="1828800" y="2072269"/>
            <a:ext cx="8534400" cy="1752600"/>
          </a:xfrm>
        </p:spPr>
        <p:txBody>
          <a:bodyPr>
            <a:normAutofit lnSpcReduction="10000"/>
          </a:bodyPr>
          <a:lstStyle/>
          <a:p>
            <a:pPr marL="0" lvl="0" indent="0">
              <a:buNone/>
            </a:pPr>
            <a:r>
              <a:t>Chapter 13 Waves and Their Properties</a:t>
            </a:r>
            <a:br/>
            <a:br/>
            <a:endParaRPr/>
          </a:p>
        </p:txBody>
      </p:sp>
      <p:pic>
        <p:nvPicPr>
          <p:cNvPr id="4" name="Cover Image" descr="Cover image"/>
          <p:cNvPicPr>
            <a:picLocks noChangeAspect="1"/>
          </p:cNvPicPr>
          <p:nvPr/>
        </p:nvPicPr>
        <p:blipFill>
          <a:blip r:embed="rId2"/>
          <a:stretch>
            <a:fillRect/>
          </a:stretch>
        </p:blipFill>
        <p:spPr>
          <a:xfrm>
            <a:off x="4859482" y="3298371"/>
            <a:ext cx="2473036" cy="3200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Chapter outline</a:t>
            </a:r>
          </a:p>
        </p:txBody>
      </p:sp>
      <p:sp>
        <p:nvSpPr>
          <p:cNvPr id="3" name="Content Placeholder 2"/>
          <p:cNvSpPr>
            <a:spLocks noGrp="1"/>
          </p:cNvSpPr>
          <p:nvPr>
            <p:ph idx="1"/>
          </p:nvPr>
        </p:nvSpPr>
        <p:spPr/>
        <p:txBody>
          <a:bodyPr/>
          <a:lstStyle/>
          <a:p>
            <a:pPr marL="457189" lvl="0" indent="-457189">
              <a:buAutoNum type="arabicPeriod"/>
            </a:pPr>
            <a:r>
              <a:t>Types of Waves</a:t>
            </a:r>
          </a:p>
          <a:p>
            <a:pPr marL="457189" lvl="0" indent="-457189">
              <a:buAutoNum type="arabicPeriod"/>
            </a:pPr>
            <a:r>
              <a:t>Wave Properties: Speed, Amplitude, Frequency, and Period</a:t>
            </a:r>
          </a:p>
          <a:p>
            <a:pPr marL="457189" lvl="0" indent="-457189">
              <a:buAutoNum type="arabicPeriod"/>
            </a:pPr>
            <a:r>
              <a:t>Wave Interaction: Superposition and Interference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13.1</a:t>
            </a:r>
          </a:p>
        </p:txBody>
      </p:sp>
      <p:pic>
        <p:nvPicPr>
          <p:cNvPr id="3" name="Picture 1" descr="An ocean whitecap crashes near two surfers and three boats."/>
          <p:cNvPicPr>
            <a:picLocks noGrp="1" noChangeAspect="1"/>
          </p:cNvPicPr>
          <p:nvPr/>
        </p:nvPicPr>
        <p:blipFill>
          <a:blip r:embed="rId3"/>
          <a:stretch>
            <a:fillRect/>
          </a:stretch>
        </p:blipFill>
        <p:spPr bwMode="auto">
          <a:xfrm>
            <a:off x="1714500" y="952500"/>
            <a:ext cx="87757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Waves in the ocean behave similarly to all other types of waves. (Steve Jurveston, Flickr)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13.2</a:t>
            </a:r>
          </a:p>
        </p:txBody>
      </p:sp>
      <p:pic>
        <p:nvPicPr>
          <p:cNvPr id="3" name="Picture 1" descr="A seagull bobs up and down on a sine-wave-shaped periodic ocean wave."/>
          <p:cNvPicPr>
            <a:picLocks noGrp="1" noChangeAspect="1"/>
          </p:cNvPicPr>
          <p:nvPr/>
        </p:nvPicPr>
        <p:blipFill>
          <a:blip r:embed="rId3"/>
          <a:stretch>
            <a:fillRect/>
          </a:stretch>
        </p:blipFill>
        <p:spPr bwMode="auto">
          <a:xfrm>
            <a:off x="1041400" y="952500"/>
            <a:ext cx="101092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An idealized ocean wave passes under a seagull that bobs up and down in simple harmonic motion.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13.3</a:t>
            </a:r>
          </a:p>
        </p:txBody>
      </p:sp>
      <p:pic>
        <p:nvPicPr>
          <p:cNvPr id="3" name="Picture 1" descr="A woman moves a slinky up and down, creating transverse waves that propagate horizontally away from her while disturbing the slinky vertically."/>
          <p:cNvPicPr>
            <a:picLocks noGrp="1" noChangeAspect="1"/>
          </p:cNvPicPr>
          <p:nvPr/>
        </p:nvPicPr>
        <p:blipFill>
          <a:blip r:embed="rId3"/>
          <a:stretch>
            <a:fillRect/>
          </a:stretch>
        </p:blipFill>
        <p:spPr bwMode="auto">
          <a:xfrm>
            <a:off x="609600" y="1333500"/>
            <a:ext cx="10972800" cy="38862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In this example of a transverse wave, the wave propagates horizontally and the disturbance in the toy spring is in the vertical direction.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13.4</a:t>
            </a:r>
          </a:p>
        </p:txBody>
      </p:sp>
      <p:pic>
        <p:nvPicPr>
          <p:cNvPr id="3" name="Picture 1" descr="A woman stretches and compresses a slinky horizontally, creating longitudinal waves that propagate horizontally away from her and disturbing the slinky horizontally as well."/>
          <p:cNvPicPr>
            <a:picLocks noGrp="1" noChangeAspect="1"/>
          </p:cNvPicPr>
          <p:nvPr/>
        </p:nvPicPr>
        <p:blipFill>
          <a:blip r:embed="rId3"/>
          <a:stretch>
            <a:fillRect/>
          </a:stretch>
        </p:blipFill>
        <p:spPr bwMode="auto">
          <a:xfrm>
            <a:off x="609600" y="1473200"/>
            <a:ext cx="10972800" cy="36322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In this example of a longitudinal wave, the wave propagates horizontally and the disturbance in the toy spring is also in the horizontal direction.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13.5</a:t>
            </a:r>
          </a:p>
        </p:txBody>
      </p:sp>
      <p:pic>
        <p:nvPicPr>
          <p:cNvPr id="3" name="Picture 1" descr="A guitar string is disturbed vertically but travels horizontally. Sound travels from the guitar, through an amplifier, out of a speaker, and to a piece of paper, which vibrates back and forth with the waves of compression."/>
          <p:cNvPicPr>
            <a:picLocks noGrp="1" noChangeAspect="1"/>
          </p:cNvPicPr>
          <p:nvPr/>
        </p:nvPicPr>
        <p:blipFill>
          <a:blip r:embed="rId3"/>
          <a:stretch>
            <a:fillRect/>
          </a:stretch>
        </p:blipFill>
        <p:spPr bwMode="auto">
          <a:xfrm>
            <a:off x="3568700" y="952500"/>
            <a:ext cx="50419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wave on a guitar string is transverse. However, the sound wave coming out of a speaker rattles a sheet of paper in a direction that shows that such sound wave is longitudinal.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13.6</a:t>
            </a:r>
          </a:p>
        </p:txBody>
      </p:sp>
      <p:pic>
        <p:nvPicPr>
          <p:cNvPr id="3" name="Picture 1" descr="A surfer glides down a giant wave while another surfer watches from the wave’s crest."/>
          <p:cNvPicPr>
            <a:picLocks noGrp="1" noChangeAspect="1"/>
          </p:cNvPicPr>
          <p:nvPr/>
        </p:nvPicPr>
        <p:blipFill>
          <a:blip r:embed="rId3"/>
          <a:stretch>
            <a:fillRect/>
          </a:stretch>
        </p:blipFill>
        <p:spPr bwMode="auto">
          <a:xfrm>
            <a:off x="2603500" y="952500"/>
            <a:ext cx="69850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surfer negotiates a steep take-off on a winter day in California while his friend watches. (Ljsurf, Wikimedia Commons)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13.7</a:t>
            </a:r>
          </a:p>
        </p:txBody>
      </p:sp>
      <p:pic>
        <p:nvPicPr>
          <p:cNvPr id="3" name="Picture 1" descr="A seagull bobs up and down on a sinusoidal-shaped periodic ocean wave with a given wave velocity of νw. The wavelength λ is shown as the distance from one crest to the next crest. The amplitude X is shown as the distance between the resting position and the crest. The total distance traveled by the seagull in one cycle or period is shown as 2X."/>
          <p:cNvPicPr>
            <a:picLocks noGrp="1" noChangeAspect="1"/>
          </p:cNvPicPr>
          <p:nvPr/>
        </p:nvPicPr>
        <p:blipFill>
          <a:blip r:embed="rId3"/>
          <a:stretch>
            <a:fillRect/>
          </a:stretch>
        </p:blipFill>
        <p:spPr bwMode="auto">
          <a:xfrm>
            <a:off x="1447800" y="952500"/>
            <a:ext cx="92964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wave has a wavelength λ, which is the distance between adjacent identical parts of the wave. The up-and-down disturbance of the surface propagates parallel to the surface at a speed vw.</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13.8</a:t>
            </a:r>
          </a:p>
        </p:txBody>
      </p:sp>
      <p:pic>
        <p:nvPicPr>
          <p:cNvPr id="3" name="Picture 1" descr="A smaller speaker emits a high-frequency sound wave with a small wavelength, while a larger speaker emits a lower-frequency sound wave with a larger wavelength."/>
          <p:cNvPicPr>
            <a:picLocks noGrp="1" noChangeAspect="1"/>
          </p:cNvPicPr>
          <p:nvPr/>
        </p:nvPicPr>
        <p:blipFill>
          <a:blip r:embed="rId3"/>
          <a:stretch>
            <a:fillRect/>
          </a:stretch>
        </p:blipFill>
        <p:spPr bwMode="auto">
          <a:xfrm>
            <a:off x="3289300" y="952500"/>
            <a:ext cx="56134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Because they travel at the same speed in a given medium, low-frequency sounds must have a greater wavelength than high-frequency sounds. Here, the lower-frequency sounds are emitted by the large speaker, called a woofer, while the higher-frequency sounds are emitted by the small speaker, called a tweeter.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13.9</a:t>
            </a:r>
          </a:p>
        </p:txBody>
      </p:sp>
      <p:pic>
        <p:nvPicPr>
          <p:cNvPr id="3" name="Picture 1" descr="A town with collapsed buildings after an earthquake."/>
          <p:cNvPicPr>
            <a:picLocks noGrp="1" noChangeAspect="1"/>
          </p:cNvPicPr>
          <p:nvPr/>
        </p:nvPicPr>
        <p:blipFill>
          <a:blip r:embed="rId3"/>
          <a:stretch>
            <a:fillRect/>
          </a:stretch>
        </p:blipFill>
        <p:spPr bwMode="auto">
          <a:xfrm>
            <a:off x="2832100" y="952500"/>
            <a:ext cx="65278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destructive effect of an earthquake is a palpable evidence of the energy carried in the earthquake waves. The Richter scale rating of earthquakes is related to both their amplitude and the energy they carry. (Petty Officer 2nd Class Candice Villarreal, U.S. Navy)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13.10</a:t>
            </a:r>
          </a:p>
        </p:txBody>
      </p:sp>
      <p:pic>
        <p:nvPicPr>
          <p:cNvPr id="3" name="Picture 1" descr="Waves ripple across a lake by the mountains."/>
          <p:cNvPicPr>
            <a:picLocks noGrp="1" noChangeAspect="1"/>
          </p:cNvPicPr>
          <p:nvPr/>
        </p:nvPicPr>
        <p:blipFill>
          <a:blip r:embed="rId3"/>
          <a:stretch>
            <a:fillRect/>
          </a:stretch>
        </p:blipFill>
        <p:spPr bwMode="auto">
          <a:xfrm>
            <a:off x="2374900" y="952500"/>
            <a:ext cx="74422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These waves result from the superposition of several waves from different sources, producing a complex pattern. (Waterborough, Wikimedia Commons)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13.11</a:t>
            </a:r>
          </a:p>
        </p:txBody>
      </p:sp>
      <p:pic>
        <p:nvPicPr>
          <p:cNvPr id="3" name="Picture 1" descr="Wave 1 and wave 2 are perfectly in phase, and their resultant has twice the amplitude of each individual wave."/>
          <p:cNvPicPr>
            <a:picLocks noGrp="1" noChangeAspect="1"/>
          </p:cNvPicPr>
          <p:nvPr/>
        </p:nvPicPr>
        <p:blipFill>
          <a:blip r:embed="rId3"/>
          <a:stretch>
            <a:fillRect/>
          </a:stretch>
        </p:blipFill>
        <p:spPr bwMode="auto">
          <a:xfrm>
            <a:off x="1943100" y="952500"/>
            <a:ext cx="82931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pure constructive interference of two identical waves produces a wave with twice the amplitude but the same wavelength.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13.12</a:t>
            </a:r>
          </a:p>
        </p:txBody>
      </p:sp>
      <p:pic>
        <p:nvPicPr>
          <p:cNvPr id="3" name="Picture 1" descr="Wave 1 and wave 2 are perfectly out of phase, and their resultant has zero amplitude."/>
          <p:cNvPicPr>
            <a:picLocks noGrp="1" noChangeAspect="1"/>
          </p:cNvPicPr>
          <p:nvPr/>
        </p:nvPicPr>
        <p:blipFill>
          <a:blip r:embed="rId3"/>
          <a:stretch>
            <a:fillRect/>
          </a:stretch>
        </p:blipFill>
        <p:spPr bwMode="auto">
          <a:xfrm>
            <a:off x="1968500" y="952500"/>
            <a:ext cx="82550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pure destructive interference of two identical waves produces zero amplitude, or complete cancellation.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13.13</a:t>
            </a:r>
          </a:p>
        </p:txBody>
      </p:sp>
      <p:pic>
        <p:nvPicPr>
          <p:cNvPr id="3" name="Picture 1" descr="Wave 1 has a large amplitude and a low frequency. Wave 2 has a small amplitude and a high frequency. The resultant is squiggly, without a perfect sinusoidal shape."/>
          <p:cNvPicPr>
            <a:picLocks noGrp="1" noChangeAspect="1"/>
          </p:cNvPicPr>
          <p:nvPr/>
        </p:nvPicPr>
        <p:blipFill>
          <a:blip r:embed="rId3"/>
          <a:stretch>
            <a:fillRect/>
          </a:stretch>
        </p:blipFill>
        <p:spPr bwMode="auto">
          <a:xfrm>
            <a:off x="3556000" y="952500"/>
            <a:ext cx="50673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superposition of nonidentical waves exhibits both constructive and destructive interferences.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13.14</a:t>
            </a:r>
          </a:p>
        </p:txBody>
      </p:sp>
      <p:pic>
        <p:nvPicPr>
          <p:cNvPr id="3" name="Picture 1" descr="Two identical waves moving in opposite directions alternate between creating no disturbance during destructive interference and doubling the disturbance during constructive interference."/>
          <p:cNvPicPr>
            <a:picLocks noGrp="1" noChangeAspect="1"/>
          </p:cNvPicPr>
          <p:nvPr/>
        </p:nvPicPr>
        <p:blipFill>
          <a:blip r:embed="rId3"/>
          <a:stretch>
            <a:fillRect/>
          </a:stretch>
        </p:blipFill>
        <p:spPr bwMode="auto">
          <a:xfrm>
            <a:off x="609600" y="1536700"/>
            <a:ext cx="10972800" cy="34925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standing wave is created by the superposition of two identical waves moving in opposite directions. The oscillations are at fixed locations in space and result from alternating constructive and destructive interferences.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13.15</a:t>
            </a:r>
          </a:p>
        </p:txBody>
      </p:sp>
      <p:pic>
        <p:nvPicPr>
          <p:cNvPr id="3" name="Picture 1" descr="One antinode and two nodes are created by a single standing wave."/>
          <p:cNvPicPr>
            <a:picLocks noGrp="1" noChangeAspect="1"/>
          </p:cNvPicPr>
          <p:nvPr/>
        </p:nvPicPr>
        <p:blipFill>
          <a:blip r:embed="rId3"/>
          <a:stretch>
            <a:fillRect/>
          </a:stretch>
        </p:blipFill>
        <p:spPr bwMode="auto">
          <a:xfrm>
            <a:off x="3162300" y="952500"/>
            <a:ext cx="58547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figure shows a string oscillating with its maximum disturbance as the antinode.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13.16</a:t>
            </a:r>
          </a:p>
        </p:txBody>
      </p:sp>
      <p:pic>
        <p:nvPicPr>
          <p:cNvPr id="3" name="Picture 1" descr="Two antinodes and three nodes are created by two standing waves. Three antinodes and four nodes are created by three standing waves."/>
          <p:cNvPicPr>
            <a:picLocks noGrp="1" noChangeAspect="1"/>
          </p:cNvPicPr>
          <p:nvPr/>
        </p:nvPicPr>
        <p:blipFill>
          <a:blip r:embed="rId3"/>
          <a:stretch>
            <a:fillRect/>
          </a:stretch>
        </p:blipFill>
        <p:spPr bwMode="auto">
          <a:xfrm>
            <a:off x="609600" y="1066800"/>
            <a:ext cx="10972800" cy="44450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figure shows a string oscillating with multiple nodes.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13.17</a:t>
            </a:r>
          </a:p>
        </p:txBody>
      </p:sp>
      <p:pic>
        <p:nvPicPr>
          <p:cNvPr id="3" name="Picture 1" descr="A wave travels to the right, hits the fixed end, flips vertically, and travels to the left."/>
          <p:cNvPicPr>
            <a:picLocks noGrp="1" noChangeAspect="1"/>
          </p:cNvPicPr>
          <p:nvPr/>
        </p:nvPicPr>
        <p:blipFill>
          <a:blip r:embed="rId3"/>
          <a:stretch>
            <a:fillRect/>
          </a:stretch>
        </p:blipFill>
        <p:spPr bwMode="auto">
          <a:xfrm>
            <a:off x="609600" y="1092200"/>
            <a:ext cx="10972800" cy="43815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wave is inverted after reflection from a fixed end.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13.18</a:t>
            </a:r>
          </a:p>
        </p:txBody>
      </p:sp>
      <p:pic>
        <p:nvPicPr>
          <p:cNvPr id="3" name="Picture 1" descr="A wave bends slightly to the right of its original path as it crosses the line into another medium."/>
          <p:cNvPicPr>
            <a:picLocks noGrp="1" noChangeAspect="1"/>
          </p:cNvPicPr>
          <p:nvPr/>
        </p:nvPicPr>
        <p:blipFill>
          <a:blip r:embed="rId3"/>
          <a:stretch>
            <a:fillRect/>
          </a:stretch>
        </p:blipFill>
        <p:spPr bwMode="auto">
          <a:xfrm>
            <a:off x="1727200" y="952500"/>
            <a:ext cx="87376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wave refracts as it enters a different medium.</a:t>
            </a:r>
          </a:p>
        </p:txBody>
      </p:sp>
      <p:sp>
        <p:nvSpPr>
          <p:cNvPr id="5" name="TextBox 4">
            <a:extLst>
              <a:ext uri="{FF2B5EF4-FFF2-40B4-BE49-F238E27FC236}">
                <a16:creationId xmlns:a16="http://schemas.microsoft.com/office/drawing/2014/main" id="{55F0B4E7-3690-6401-CDF2-09A3B3C3FFC3}"/>
              </a:ext>
            </a:extLst>
          </p:cNvPr>
          <p:cNvSpPr txBox="1"/>
          <p:nvPr/>
        </p:nvSpPr>
        <p:spPr>
          <a:xfrm>
            <a:off x="108122" y="6396335"/>
            <a:ext cx="12083878" cy="461665"/>
          </a:xfrm>
          <a:prstGeom prst="rect">
            <a:avLst/>
          </a:prstGeom>
          <a:noFill/>
        </p:spPr>
        <p:txBody>
          <a:bodyPr wrap="square">
            <a:spAutoFit/>
          </a:bodyPr>
          <a:lstStyle/>
          <a:p>
            <a:r>
              <a:rPr lang="en-US" sz="1200" dirty="0"/>
              <a:t>This OpenStax ancillary resource is © Rice University under a CC BY-NC-SA 4.0 International license; it may be reproduced or modified for noncommercial purposes only but must be attributed to OpenStax, Rice University and any changes must be noted. Any adaptation must be shared under the same type of license.</a:t>
            </a:r>
          </a:p>
        </p:txBody>
      </p:sp>
    </p:spTree>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609A33"/>
      </a:accent1>
      <a:accent2>
        <a:srgbClr val="DB5935"/>
      </a:accent2>
      <a:accent3>
        <a:srgbClr val="464846"/>
      </a:accent3>
      <a:accent4>
        <a:srgbClr val="EAC322"/>
      </a:accent4>
      <a:accent5>
        <a:srgbClr val="1B1E3F"/>
      </a:accent5>
      <a:accent6>
        <a:srgbClr val="70AD47"/>
      </a:accent6>
      <a:hlink>
        <a:srgbClr val="29749C"/>
      </a:hlink>
      <a:folHlink>
        <a:srgbClr val="9450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998</Words>
  <Application>Microsoft Macintosh PowerPoint</Application>
  <PresentationFormat>Widescreen</PresentationFormat>
  <Paragraphs>79</Paragraphs>
  <Slides>20</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Physics</vt:lpstr>
      <vt:lpstr>Chapter outline</vt:lpstr>
      <vt:lpstr>Figure 13.1</vt:lpstr>
      <vt:lpstr>Figure 13.2</vt:lpstr>
      <vt:lpstr>Figure 13.3</vt:lpstr>
      <vt:lpstr>Figure 13.4</vt:lpstr>
      <vt:lpstr>Figure 13.5</vt:lpstr>
      <vt:lpstr>Figure 13.6</vt:lpstr>
      <vt:lpstr>Figure 13.7</vt:lpstr>
      <vt:lpstr>Figure 13.8</vt:lpstr>
      <vt:lpstr>Figure 13.9</vt:lpstr>
      <vt:lpstr>Figure 13.10</vt:lpstr>
      <vt:lpstr>Figure 13.11</vt:lpstr>
      <vt:lpstr>Figure 13.12</vt:lpstr>
      <vt:lpstr>Figure 13.13</vt:lpstr>
      <vt:lpstr>Figure 13.14</vt:lpstr>
      <vt:lpstr>Figure 13.15</vt:lpstr>
      <vt:lpstr>Figure 13.16</vt:lpstr>
      <vt:lpstr>Figure 13.17</vt:lpstr>
      <vt:lpstr>Figure 13.18</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300</TotalTime>
  <Words>44</Words>
  <Application>Microsoft Macintosh PowerPoint</Application>
  <PresentationFormat>Widescreen</PresentationFormat>
  <Paragraphs>12</Paragraphs>
  <Slides>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Physics</dc:title>
  <dc:creator/>
  <cp:keywords/>
  <cp:lastModifiedBy>Theresa Masciale</cp:lastModifiedBy>
  <cp:revision>1</cp:revision>
  <dcterms:created xsi:type="dcterms:W3CDTF">2025-12-17T21:04:02Z</dcterms:created>
  <dcterms:modified xsi:type="dcterms:W3CDTF">2025-12-17T21:34:30Z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ubtitle">
    <vt:lpwstr>Chapter 13 Waves and Their Properties</vt:lpwstr>
  </property>
</Properties>
</file>