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94694" autoAdjust="0"/>
  </p:normalViewPr>
  <p:slideViewPr>
    <p:cSldViewPr snapToGrid="0" snapToObjects="1">
      <p:cViewPr varScale="1">
        <p:scale>
          <a:sx n="109" d="100"/>
          <a:sy n="109" d="100"/>
        </p:scale>
        <p:origin x="200"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 shows a star system, the Orion Nebula.</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shows how light travels from a coherent light source, through a semi-silvered mirror to a mirror, then travels up, then back down towards a detector.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of Albert Einstein.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illustrations. Both show a man standing beside a railroad track looking at a rail car with an open side. Sitting in the center of the rail car is a woman facing toward the left. Mounted on the wall at either end of the car are light fixtures. In the first illustration, the light that is emitted from the light fixtures is shown as arrows that start at the light fixture and fan out toward the center of the rail car. In the second illustration, the rail car is shown as having moved to the right and the arrows representing the light on the right are shown closer to the woman while the ones coming from the light on the left have not moved.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series of three illustrations the different frames of reference for an astronaut on a flight versus an observer on Earth.</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picture of an empty highway in the desert.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with a line representing momentum (on the y-axis) relative to speed (on the x-axis). The line stays close to 0 from a speed of 0 up to about a speed of 0.6c where it begins to rise gradually. As it approaches 1.0c, however, it rises dramatically and ends going straight up.</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picture of the sun (a) and a power plant (b)</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Aerial view of a large building complex.</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10 Special Relativity</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Postulates of Special Relativity</a:t>
            </a:r>
          </a:p>
          <a:p>
            <a:pPr marL="457189" lvl="0" indent="-457189">
              <a:buAutoNum type="arabicPeriod"/>
            </a:pPr>
            <a:r>
              <a:t>Consequences of Special Relativity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10.1</a:t>
            </a:r>
          </a:p>
        </p:txBody>
      </p:sp>
      <p:pic>
        <p:nvPicPr>
          <p:cNvPr id="3" name="Picture 1" descr="A photo shows a star system, the Orion Nebula."/>
          <p:cNvPicPr>
            <a:picLocks noGrp="1" noChangeAspect="1"/>
          </p:cNvPicPr>
          <p:nvPr/>
        </p:nvPicPr>
        <p:blipFill>
          <a:blip r:embed="rId3"/>
          <a:stretch>
            <a:fillRect/>
          </a:stretch>
        </p:blipFill>
        <p:spPr bwMode="auto">
          <a:xfrm>
            <a:off x="609600" y="1358900"/>
            <a:ext cx="10972800" cy="38608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Special relativity explains why travel to other star systems, such as these in the Orion Nebula, is unlikely using our current level of technology. (s58y, Flickr)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10.2</a:t>
            </a:r>
          </a:p>
        </p:txBody>
      </p:sp>
      <p:pic>
        <p:nvPicPr>
          <p:cNvPr id="3" name="Picture 1" descr="A drawing shows how light travels from a coherent light source, through a semi-silvered mirror to a mirror, then travels up, then back down towards a detector."/>
          <p:cNvPicPr>
            <a:picLocks noGrp="1" noChangeAspect="1"/>
          </p:cNvPicPr>
          <p:nvPr/>
        </p:nvPicPr>
        <p:blipFill>
          <a:blip r:embed="rId3"/>
          <a:stretch>
            <a:fillRect/>
          </a:stretch>
        </p:blipFill>
        <p:spPr bwMode="auto">
          <a:xfrm>
            <a:off x="3479800" y="952500"/>
            <a:ext cx="5232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is a diagram of the instrument used in the Michelson–Morley experiment.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10.3</a:t>
            </a:r>
          </a:p>
        </p:txBody>
      </p:sp>
      <p:pic>
        <p:nvPicPr>
          <p:cNvPr id="3" name="Picture 1" descr="A photograph of Albert Einstein."/>
          <p:cNvPicPr>
            <a:picLocks noGrp="1" noChangeAspect="1"/>
          </p:cNvPicPr>
          <p:nvPr/>
        </p:nvPicPr>
        <p:blipFill>
          <a:blip r:embed="rId3"/>
          <a:stretch>
            <a:fillRect/>
          </a:stretch>
        </p:blipFill>
        <p:spPr bwMode="auto">
          <a:xfrm>
            <a:off x="4305300" y="952500"/>
            <a:ext cx="3581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Albert Einstein (1879–1955) developed modern relativity and also made fundamental contributions to the foundations of quantum mechanics. (The Library of Congress)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10.4</a:t>
            </a:r>
          </a:p>
        </p:txBody>
      </p:sp>
      <p:pic>
        <p:nvPicPr>
          <p:cNvPr id="3" name="Picture 1" descr="There are two illustrations. Both show a man standing beside a railroad track looking at a rail car with an open side. Sitting in the center of the rail car is a woman facing toward the left. Mounted on the wall at either end of the car are light fixtures. In the first illustration, the light that is emitted from the light fixtures is shown as arrows that start at the light fixture and fan out toward the center of the rail car. In the second illustration, the rail car is shown as having moved to the right and the arrows representing the light on the right are shown closer to the woman while the ones coming from the light on the left have not moved."/>
          <p:cNvPicPr>
            <a:picLocks noGrp="1" noChangeAspect="1"/>
          </p:cNvPicPr>
          <p:nvPr/>
        </p:nvPicPr>
        <p:blipFill>
          <a:blip r:embed="rId3"/>
          <a:stretch>
            <a:fillRect/>
          </a:stretch>
        </p:blipFill>
        <p:spPr bwMode="auto">
          <a:xfrm>
            <a:off x="3848100" y="952500"/>
            <a:ext cx="4495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Light arriving to observer A as seen by two different observers.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10.5</a:t>
            </a:r>
          </a:p>
        </p:txBody>
      </p:sp>
      <p:pic>
        <p:nvPicPr>
          <p:cNvPr id="3" name="Picture 1" descr="A series of three illustrations the different frames of reference for an astronaut on a flight versus an observer on Earth."/>
          <p:cNvPicPr>
            <a:picLocks noGrp="1" noChangeAspect="1"/>
          </p:cNvPicPr>
          <p:nvPr/>
        </p:nvPicPr>
        <p:blipFill>
          <a:blip r:embed="rId3"/>
          <a:stretch>
            <a:fillRect/>
          </a:stretch>
        </p:blipFill>
        <p:spPr bwMode="auto">
          <a:xfrm>
            <a:off x="3175000" y="952500"/>
            <a:ext cx="5842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An astronaut measures the time Δ t 0 for light to cross her ship using an electronic timer. Light travels a distance 2D in the astronaut’s frame. (b) A person on the earth sees the light follow the longer path 2s and take a longer time Δt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10.6</a:t>
            </a:r>
          </a:p>
        </p:txBody>
      </p:sp>
      <p:pic>
        <p:nvPicPr>
          <p:cNvPr id="3" name="Picture 1" descr="A picture of an empty highway in the desert."/>
          <p:cNvPicPr>
            <a:picLocks noGrp="1" noChangeAspect="1"/>
          </p:cNvPicPr>
          <p:nvPr/>
        </p:nvPicPr>
        <p:blipFill>
          <a:blip r:embed="rId3"/>
          <a:stretch>
            <a:fillRect/>
          </a:stretch>
        </p:blipFill>
        <p:spPr bwMode="auto">
          <a:xfrm>
            <a:off x="2616200" y="952500"/>
            <a:ext cx="6959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People might describe distances differently, but at relativistic speeds, the distances really are different. (Corey Leopold, Flickr)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10.7</a:t>
            </a:r>
          </a:p>
        </p:txBody>
      </p:sp>
      <p:pic>
        <p:nvPicPr>
          <p:cNvPr id="3" name="Picture 1" descr="A graph with a line representing momentum (on the y-axis) relative to speed (on the x-axis). The line stays close to 0 from a speed of 0 up to about a speed of 0.6c where it begins to rise gradually. As it approaches 1.0c, however, it rises dramatically and ends going straight up."/>
          <p:cNvPicPr>
            <a:picLocks noGrp="1" noChangeAspect="1"/>
          </p:cNvPicPr>
          <p:nvPr/>
        </p:nvPicPr>
        <p:blipFill>
          <a:blip r:embed="rId3"/>
          <a:stretch>
            <a:fillRect/>
          </a:stretch>
        </p:blipFill>
        <p:spPr bwMode="auto">
          <a:xfrm>
            <a:off x="3238500" y="952500"/>
            <a:ext cx="5702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Relativistic momentum approaches infinity as the velocity of an object approaches the speed of light.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10.8</a:t>
            </a:r>
          </a:p>
        </p:txBody>
      </p:sp>
      <p:pic>
        <p:nvPicPr>
          <p:cNvPr id="3" name="Picture 1" descr="A picture of the sun (a) and a power plant (b)"/>
          <p:cNvPicPr>
            <a:picLocks noGrp="1" noChangeAspect="1"/>
          </p:cNvPicPr>
          <p:nvPr/>
        </p:nvPicPr>
        <p:blipFill>
          <a:blip r:embed="rId3"/>
          <a:stretch>
            <a:fillRect/>
          </a:stretch>
        </p:blipFill>
        <p:spPr bwMode="auto">
          <a:xfrm>
            <a:off x="635000" y="952500"/>
            <a:ext cx="10922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sun (a) and the Susquehanna Steam Electric Station (b) both convert mass into energy. ((a) NASA/Goddard Space Flight Center, Scientific Visualization Studio; (b) U.S. government)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10.9</a:t>
            </a:r>
          </a:p>
        </p:txBody>
      </p:sp>
      <p:pic>
        <p:nvPicPr>
          <p:cNvPr id="3" name="Picture 1" descr="Aerial view of a large building complex."/>
          <p:cNvPicPr>
            <a:picLocks noGrp="1" noChangeAspect="1"/>
          </p:cNvPicPr>
          <p:nvPr/>
        </p:nvPicPr>
        <p:blipFill>
          <a:blip r:embed="rId3"/>
          <a:stretch>
            <a:fillRect/>
          </a:stretch>
        </p:blipFill>
        <p:spPr bwMode="auto">
          <a:xfrm>
            <a:off x="3759200" y="952500"/>
            <a:ext cx="4660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Brookhaven National Laboratory. The circular structure houses the RHIC. (energy.gov, Wikimedia Commons)</a:t>
            </a:r>
          </a:p>
        </p:txBody>
      </p:sp>
      <p:sp>
        <p:nvSpPr>
          <p:cNvPr id="5" name="TextBox 4">
            <a:extLst>
              <a:ext uri="{FF2B5EF4-FFF2-40B4-BE49-F238E27FC236}">
                <a16:creationId xmlns:a16="http://schemas.microsoft.com/office/drawing/2014/main" id="{50CBAC4D-B67B-D20E-44E6-1593269099E8}"/>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637</Words>
  <Application>Microsoft Macintosh PowerPoint</Application>
  <PresentationFormat>Widescreen</PresentationFormat>
  <Paragraphs>42</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Physics</vt:lpstr>
      <vt:lpstr>Chapter outline</vt:lpstr>
      <vt:lpstr>Figure 10.1</vt:lpstr>
      <vt:lpstr>Figure 10.2</vt:lpstr>
      <vt:lpstr>Figure 10.3</vt:lpstr>
      <vt:lpstr>Figure 10.4</vt:lpstr>
      <vt:lpstr>Figure 10.5</vt:lpstr>
      <vt:lpstr>Figure 10.6</vt:lpstr>
      <vt:lpstr>Figure 10.7</vt:lpstr>
      <vt:lpstr>Figure 10.8</vt:lpstr>
      <vt:lpstr>Figure 10.9</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2025-12-17T21:03:55Z</dcterms:created>
  <dcterms:modified xsi:type="dcterms:W3CDTF">2025-12-17T21:30:28Z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10 Special Relativity</vt:lpwstr>
  </property>
</Properties>
</file>