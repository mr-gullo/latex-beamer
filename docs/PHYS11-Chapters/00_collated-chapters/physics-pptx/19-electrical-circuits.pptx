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84" autoAdjust="0"/>
    <p:restoredTop sz="94694" autoAdjust="0"/>
  </p:normalViewPr>
  <p:slideViewPr>
    <p:cSldViewPr snapToGrid="0" snapToObjects="1">
      <p:cViewPr varScale="1">
        <p:scale>
          <a:sx n="104" d="100"/>
          <a:sy n="104" d="100"/>
        </p:scale>
        <p:origin x="232" y="56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Water is shown flowing through a hydroelectric facility.</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Electrons move from the negative terminal to the positive terminal of a battery.</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Positive charges move through a section of wire of cross-section A.</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 part (a), positive charges move in the same direction as the current and electric field. In part (b), negative charges move against the direction of the current and electric field.</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random path and collisions of an electron moving in an electrical conductor opposite the current and electric field.</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graph showing alternating current in which the current increases and decreases at regular intervals, and the direction of the current changing from one direction to another (arrows pointing left or right)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graph shows current in milliamperes on the y-axis and voltage in volts on the x-axis with a straight line such that at 3V, the current is 3 mA.</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Part (a) shows a circuit board with a small “chip.” Part (b) shows a high-power electric power transmission station.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Part (a) shows a circuit diagram with a zigzag line of a resistor, a battery, and current. Part (b) shows an analogous water circuit with a pump (similar to a battery) and a sand filter (similar to the resistor).</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Typical resistors of various color values are shown.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circuit diagram showing a battery and resistor at constant voltage: V=Vbattery and V=Vground=0.</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Part (a) is a circuit diagram with a battery, switch, and capacitor. Part (b) is an analogous water circuit with a pump (like a battery), a valve (like a switch), and a stretchable membrane (like a capacitor).</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left shows a microprocessor chip; the right shows a missile being launched.</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left circuit diagram shows three resistors and a battery connected in series. The right circuit diagram shows one resistor that is equivalent to the combination of the three resistors shown on the left.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image is shown with a continuous line. The line starts out straight and black, becomes red and up and down pointed, and goes back to straight and black.</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 the left is a circuit diagram with three resistors connected in parallel. On the right is a circuit diagram with only one resistor that has equivalent resistance to the three resistors shown on the left.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Four steps are shown to simplify a complex circuit diagram of seven resistors to one with only a single equivalent resistor. Initially, two groups of parallel resistors, circled by the blue dashed loop, are combined; then, two resistors in series, circled by the red dashed loop, are combined, which is then combined with a resistor in parallel, circled by the green dashed loop; finally, two resistors in series are combined, circled by the purple dashed loop, yielding the final diagram.</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“dogbot” in the general shape of a dog is shown</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shows a vertical parallel circuit. In the middle of either side there are resistors. The left resistor is labeled R1 = 35Ω. The right resistor is labeled R1 = 55Ω</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left image shows a 25-W light bulb, whereas the right image shows a 60-W light bulb.</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circuit diagram with one resistor and one battery is shown.</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formula wheel relating power, voltage, current, and resistance.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19 Electrical Circuits</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Ohm's law</a:t>
            </a:r>
          </a:p>
          <a:p>
            <a:pPr marL="457189" lvl="0" indent="-457189">
              <a:buAutoNum type="arabicPeriod"/>
            </a:pPr>
            <a:r>
              <a:t>Series Circuits</a:t>
            </a:r>
          </a:p>
          <a:p>
            <a:pPr marL="457189" lvl="0" indent="-457189">
              <a:buAutoNum type="arabicPeriod"/>
            </a:pPr>
            <a:r>
              <a:t>Parallel Circuits</a:t>
            </a:r>
          </a:p>
          <a:p>
            <a:pPr marL="457189" lvl="0" indent="-457189">
              <a:buAutoNum type="arabicPeriod"/>
            </a:pPr>
            <a:r>
              <a:t>Electric Power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19.1</a:t>
            </a:r>
          </a:p>
        </p:txBody>
      </p:sp>
      <p:pic>
        <p:nvPicPr>
          <p:cNvPr id="3" name="Picture 1" descr="Water is shown flowing through a hydroelectric facility."/>
          <p:cNvPicPr>
            <a:picLocks noGrp="1" noChangeAspect="1"/>
          </p:cNvPicPr>
          <p:nvPr/>
        </p:nvPicPr>
        <p:blipFill>
          <a:blip r:embed="rId3"/>
          <a:stretch>
            <a:fillRect/>
          </a:stretch>
        </p:blipFill>
        <p:spPr bwMode="auto">
          <a:xfrm>
            <a:off x="1714500" y="952500"/>
            <a:ext cx="8775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Electric energy in massive quantities is transmitted from this hydroelectric facility, the Srisailam power station located along the Krishna River in India, by the movement of charge—that is, by electric current. (credit: Chintohere, Wikimedia Commons)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19.2</a:t>
            </a:r>
          </a:p>
        </p:txBody>
      </p:sp>
      <p:pic>
        <p:nvPicPr>
          <p:cNvPr id="3" name="Picture 1" descr="Electrons move from the negative terminal to the positive terminal of a battery."/>
          <p:cNvPicPr>
            <a:picLocks noGrp="1" noChangeAspect="1"/>
          </p:cNvPicPr>
          <p:nvPr/>
        </p:nvPicPr>
        <p:blipFill>
          <a:blip r:embed="rId3"/>
          <a:stretch>
            <a:fillRect/>
          </a:stretch>
        </p:blipFill>
        <p:spPr bwMode="auto">
          <a:xfrm>
            <a:off x="4051300" y="952500"/>
            <a:ext cx="4076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battery has a wire connecting the positive and negative terminals, which allows electrons to move from the negative terminal to the positive terminal.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19.3</a:t>
            </a:r>
          </a:p>
        </p:txBody>
      </p:sp>
      <p:pic>
        <p:nvPicPr>
          <p:cNvPr id="3" name="Picture 1" descr="Positive charges move through a section of wire of cross-section A."/>
          <p:cNvPicPr>
            <a:picLocks noGrp="1" noChangeAspect="1"/>
          </p:cNvPicPr>
          <p:nvPr/>
        </p:nvPicPr>
        <p:blipFill>
          <a:blip r:embed="rId3"/>
          <a:stretch>
            <a:fillRect/>
          </a:stretch>
        </p:blipFill>
        <p:spPr bwMode="auto">
          <a:xfrm>
            <a:off x="1930400" y="952500"/>
            <a:ext cx="8318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electric current moving through this wire is the charge that moves past the cross-section A divided by the time it takes for this charge to move past the section 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19.4</a:t>
            </a:r>
          </a:p>
        </p:txBody>
      </p:sp>
      <p:pic>
        <p:nvPicPr>
          <p:cNvPr id="3" name="Picture 1" descr="In part (a), positive charges move in the same direction as the current and electric field. In part (b), negative charges move against the direction of the current and electric field."/>
          <p:cNvPicPr>
            <a:picLocks noGrp="1" noChangeAspect="1"/>
          </p:cNvPicPr>
          <p:nvPr/>
        </p:nvPicPr>
        <p:blipFill>
          <a:blip r:embed="rId3"/>
          <a:stretch>
            <a:fillRect/>
          </a:stretch>
        </p:blipFill>
        <p:spPr bwMode="auto">
          <a:xfrm>
            <a:off x="4597400" y="952500"/>
            <a:ext cx="2984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The electric field points to the right, the current moves to the right, and positive charges move to the right. (b) The equivalent situation but with negative charges moving to the left. The electric field and the current are still to the right.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19.5</a:t>
            </a:r>
          </a:p>
        </p:txBody>
      </p:sp>
      <p:pic>
        <p:nvPicPr>
          <p:cNvPr id="3" name="Picture 1" descr="The random path and collisions of an electron moving in an electrical conductor opposite the current and electric field."/>
          <p:cNvPicPr>
            <a:picLocks noGrp="1" noChangeAspect="1"/>
          </p:cNvPicPr>
          <p:nvPr/>
        </p:nvPicPr>
        <p:blipFill>
          <a:blip r:embed="rId3"/>
          <a:stretch>
            <a:fillRect/>
          </a:stretch>
        </p:blipFill>
        <p:spPr bwMode="auto">
          <a:xfrm>
            <a:off x="1485900" y="952500"/>
            <a:ext cx="9207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Free electrons moving in a conductor make many collisions with other electrons and atoms. The path of one electron is shown. The average velocity of free electrons is in the direction opposite to the electric field. The collisions normally transfer energy to the conductor, so a constant supply of energy is required to maintain a steady current.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19.6</a:t>
            </a:r>
          </a:p>
        </p:txBody>
      </p:sp>
      <p:pic>
        <p:nvPicPr>
          <p:cNvPr id="3" name="Picture 1" descr="A graph showing alternating current in which the current increases and decreases at regular intervals, and the direction of the current changing from one direction to another (arrows pointing left or right)"/>
          <p:cNvPicPr>
            <a:picLocks noGrp="1" noChangeAspect="1"/>
          </p:cNvPicPr>
          <p:nvPr/>
        </p:nvPicPr>
        <p:blipFill>
          <a:blip r:embed="rId3"/>
          <a:stretch>
            <a:fillRect/>
          </a:stretch>
        </p:blipFill>
        <p:spPr bwMode="auto">
          <a:xfrm>
            <a:off x="1879600" y="952500"/>
            <a:ext cx="8432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With alternating current, the direction of the current reverses at regular time intervals. The graph on the top shows the current versus time. The negative maxima correspond to the current moving to the left. The positive maxima correspond to current moving to the right. The current alternates regularly and smoothly between these two maxima.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19.7</a:t>
            </a:r>
          </a:p>
        </p:txBody>
      </p:sp>
      <p:pic>
        <p:nvPicPr>
          <p:cNvPr id="3" name="Picture 1" descr="The graph shows current in milliamperes on the y-axis and voltage in volts on the x-axis with a straight line such that at 3V, the current is 3 mA."/>
          <p:cNvPicPr>
            <a:picLocks noGrp="1" noChangeAspect="1"/>
          </p:cNvPicPr>
          <p:nvPr/>
        </p:nvPicPr>
        <p:blipFill>
          <a:blip r:embed="rId3"/>
          <a:stretch>
            <a:fillRect/>
          </a:stretch>
        </p:blipFill>
        <p:spPr bwMode="auto">
          <a:xfrm>
            <a:off x="3898900" y="952500"/>
            <a:ext cx="4394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line shows the current as a function of voltage. Notice that the current is given in milliamperes. For example, at 3 V, the current is 0.003 A, or 3 mA.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19.8</a:t>
            </a:r>
          </a:p>
        </p:txBody>
      </p:sp>
      <p:pic>
        <p:nvPicPr>
          <p:cNvPr id="3" name="Picture 1" descr="Part (a) shows a circuit board with a small “chip.” Part (b) shows a high-power electric power transmission station."/>
          <p:cNvPicPr>
            <a:picLocks noGrp="1" noChangeAspect="1"/>
          </p:cNvPicPr>
          <p:nvPr/>
        </p:nvPicPr>
        <p:blipFill>
          <a:blip r:embed="rId3"/>
          <a:stretch>
            <a:fillRect/>
          </a:stretch>
        </p:blipFill>
        <p:spPr bwMode="auto">
          <a:xfrm>
            <a:off x="609600" y="1079500"/>
            <a:ext cx="10972800" cy="4406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photo on the left shows a chip that contains complex integrated electric circuitry. Chips such as this are at the heart of devices such as computers and cell phones. The photograph on the right shows some typical electric circuitry required for high-power electric power transmission.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19.9</a:t>
            </a:r>
          </a:p>
        </p:txBody>
      </p:sp>
      <p:pic>
        <p:nvPicPr>
          <p:cNvPr id="3" name="Picture 1" descr="Part (a) shows a circuit diagram with a zigzag line of a resistor, a battery, and current. Part (b) shows an analogous water circuit with a pump (similar to a battery) and a sand filter (similar to the resistor)."/>
          <p:cNvPicPr>
            <a:picLocks noGrp="1" noChangeAspect="1"/>
          </p:cNvPicPr>
          <p:nvPr/>
        </p:nvPicPr>
        <p:blipFill>
          <a:blip r:embed="rId3"/>
          <a:stretch>
            <a:fillRect/>
          </a:stretch>
        </p:blipFill>
        <p:spPr bwMode="auto">
          <a:xfrm>
            <a:off x="1498600" y="952500"/>
            <a:ext cx="9194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On the left is a circuit diagram showing a battery (in red), a resistor (black zigzag element), and the current I. On the right is the analogous water circuit. The pump is like the battery, the sand filter is like the resistor, the water current is like the electrical current, and the reservoir is like the ground.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19.10</a:t>
            </a:r>
          </a:p>
        </p:txBody>
      </p:sp>
      <p:pic>
        <p:nvPicPr>
          <p:cNvPr id="3" name="Picture 1" descr="Typical resistors of various color values are shown."/>
          <p:cNvPicPr>
            <a:picLocks noGrp="1" noChangeAspect="1"/>
          </p:cNvPicPr>
          <p:nvPr/>
        </p:nvPicPr>
        <p:blipFill>
          <a:blip r:embed="rId3"/>
          <a:stretch>
            <a:fillRect/>
          </a:stretch>
        </p:blipFill>
        <p:spPr bwMode="auto">
          <a:xfrm>
            <a:off x="2603500" y="952500"/>
            <a:ext cx="6985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Some typical resistors. The color bands indicate the value of the resistance of each resistor.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19.11</a:t>
            </a:r>
          </a:p>
        </p:txBody>
      </p:sp>
      <p:pic>
        <p:nvPicPr>
          <p:cNvPr id="3" name="Picture 1" descr="A circuit diagram showing a battery and resistor at constant voltage: V=Vbattery and V=Vground=0."/>
          <p:cNvPicPr>
            <a:picLocks noGrp="1" noChangeAspect="1"/>
          </p:cNvPicPr>
          <p:nvPr/>
        </p:nvPicPr>
        <p:blipFill>
          <a:blip r:embed="rId3"/>
          <a:stretch>
            <a:fillRect/>
          </a:stretch>
        </p:blipFill>
        <p:spPr bwMode="auto">
          <a:xfrm>
            <a:off x="4089400" y="952500"/>
            <a:ext cx="4013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voltage in the red wire is constant at V= V battery from the positive terminal of the battery to the top of the resistor. The voltage in the blue wire is constant at V= V ground =0 from the bottom of the resistor to the negative terminal of the battery.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19.12</a:t>
            </a:r>
          </a:p>
        </p:txBody>
      </p:sp>
      <p:pic>
        <p:nvPicPr>
          <p:cNvPr id="3" name="Picture 1" descr="Part (a) is a circuit diagram with a battery, switch, and capacitor. Part (b) is an analogous water circuit with a pump (like a battery), a valve (like a switch), and a stretchable membrane (like a capacitor)."/>
          <p:cNvPicPr>
            <a:picLocks noGrp="1" noChangeAspect="1"/>
          </p:cNvPicPr>
          <p:nvPr/>
        </p:nvPicPr>
        <p:blipFill>
          <a:blip r:embed="rId3"/>
          <a:stretch>
            <a:fillRect/>
          </a:stretch>
        </p:blipFill>
        <p:spPr bwMode="auto">
          <a:xfrm>
            <a:off x="2298700" y="952500"/>
            <a:ext cx="7607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On the left is an electrical circuit containing a battery, a switch, and a capacitor. On the left is the analogous water circuit with a pump, a valve, and a stretchable membrane. The pump is like the battery, the valve is like the switch, and the stretchable membrane is like the capacitor. When the switch is closed, electrical current flows as the capacitor charges and its voltage increases. Likewise in the water circuit, when the valve is open, water current flows as the stretchable membrane stretches and the water pressure behind it increases.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19.13</a:t>
            </a:r>
          </a:p>
        </p:txBody>
      </p:sp>
      <p:pic>
        <p:nvPicPr>
          <p:cNvPr id="3" name="Picture 1" descr="The left shows a microprocessor chip; the right shows a missile being launched."/>
          <p:cNvPicPr>
            <a:picLocks noGrp="1" noChangeAspect="1"/>
          </p:cNvPicPr>
          <p:nvPr/>
        </p:nvPicPr>
        <p:blipFill>
          <a:blip r:embed="rId3"/>
          <a:stretch>
            <a:fillRect/>
          </a:stretch>
        </p:blipFill>
        <p:spPr bwMode="auto">
          <a:xfrm>
            <a:off x="1155700" y="952500"/>
            <a:ext cx="9893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systems that electrical engineers work on range from microprocessor circuits (left)] to missile systems (right).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19.14</a:t>
            </a:r>
          </a:p>
        </p:txBody>
      </p:sp>
      <p:pic>
        <p:nvPicPr>
          <p:cNvPr id="3" name="Picture 1" descr="The left circuit diagram shows three resistors and a battery connected in series. The right circuit diagram shows one resistor that is equivalent to the combination of the three resistors shown on the left."/>
          <p:cNvPicPr>
            <a:picLocks noGrp="1" noChangeAspect="1"/>
          </p:cNvPicPr>
          <p:nvPr/>
        </p:nvPicPr>
        <p:blipFill>
          <a:blip r:embed="rId3"/>
          <a:stretch>
            <a:fillRect/>
          </a:stretch>
        </p:blipFill>
        <p:spPr bwMode="auto">
          <a:xfrm>
            <a:off x="1016000" y="952500"/>
            <a:ext cx="10160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On the left is an electric circuit with three resistors R1, R2, and R3 connected in series. On the right is an electric circuit with one resistor Requiv that is equivalent to the combination of the three resistors R1, R2, and R3.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19.15</a:t>
            </a:r>
          </a:p>
        </p:txBody>
      </p:sp>
      <p:pic>
        <p:nvPicPr>
          <p:cNvPr id="3" name="Picture 1" descr="An image is shown with a continuous line. The line starts out straight and black, becomes red and up and down pointed, and goes back to straight and black."/>
          <p:cNvPicPr>
            <a:picLocks noGrp="1" noChangeAspect="1"/>
          </p:cNvPicPr>
          <p:nvPr/>
        </p:nvPicPr>
        <p:blipFill>
          <a:blip r:embed="rId3"/>
          <a:stretch>
            <a:fillRect/>
          </a:stretch>
        </p:blipFill>
        <p:spPr bwMode="auto">
          <a:xfrm>
            <a:off x="609600" y="2286000"/>
            <a:ext cx="10972800" cy="20066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An image is shown with a continuous line. The line starts out straight and black, becomes red and up and down pointed, and goes back to straight and black.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19.16</a:t>
            </a:r>
          </a:p>
        </p:txBody>
      </p:sp>
      <p:pic>
        <p:nvPicPr>
          <p:cNvPr id="3" name="Picture 1" descr="On the left is a circuit diagram with three resistors connected in parallel. On the right is a circuit diagram with only one resistor that has equivalent resistance to the three resistors shown on the left."/>
          <p:cNvPicPr>
            <a:picLocks noGrp="1" noChangeAspect="1"/>
          </p:cNvPicPr>
          <p:nvPr/>
        </p:nvPicPr>
        <p:blipFill>
          <a:blip r:embed="rId3"/>
          <a:stretch>
            <a:fillRect/>
          </a:stretch>
        </p:blipFill>
        <p:spPr bwMode="auto">
          <a:xfrm>
            <a:off x="609600" y="2324100"/>
            <a:ext cx="10972800" cy="19177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left circuit diagram shows three resistors in parallel. The voltage V of the battery is applied across all three resistors. The currents that flow through each branch are not necessarily equal. The right circuit diagram shows an equivalent resistance that replaces the three parallel resistors.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19.17</a:t>
            </a:r>
          </a:p>
        </p:txBody>
      </p:sp>
      <p:pic>
        <p:nvPicPr>
          <p:cNvPr id="3" name="Picture 1" descr="Four steps are shown to simplify a complex circuit diagram of seven resistors to one with only a single equivalent resistor. Initially, two groups of parallel resistors, circled by the blue dashed loop, are combined; then, two resistors in series, circled by the red dashed loop, are combined, which is then combined with a resistor in parallel, circled by the green dashed loop; finally, two resistors in series are combined, circled by the purple dashed loop, yielding the final diagram."/>
          <p:cNvPicPr>
            <a:picLocks noGrp="1" noChangeAspect="1"/>
          </p:cNvPicPr>
          <p:nvPr/>
        </p:nvPicPr>
        <p:blipFill>
          <a:blip r:embed="rId3"/>
          <a:stretch>
            <a:fillRect/>
          </a:stretch>
        </p:blipFill>
        <p:spPr bwMode="auto">
          <a:xfrm>
            <a:off x="4572000" y="952500"/>
            <a:ext cx="3048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This combination of seven resistors has both series and parallel parts. Each is identified and reduced to an equivalent resistance, and these are further reduced until a single equivalent resistance is reached.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19.18</a:t>
            </a:r>
          </a:p>
        </p:txBody>
      </p:sp>
      <p:pic>
        <p:nvPicPr>
          <p:cNvPr id="3" name="Picture 1" descr="A “dogbot” in the general shape of a dog is shown"/>
          <p:cNvPicPr>
            <a:picLocks noGrp="1" noChangeAspect="1"/>
          </p:cNvPicPr>
          <p:nvPr/>
        </p:nvPicPr>
        <p:blipFill>
          <a:blip r:embed="rId3"/>
          <a:stretch>
            <a:fillRect/>
          </a:stretch>
        </p:blipFill>
        <p:spPr bwMode="auto">
          <a:xfrm>
            <a:off x="4140200" y="952500"/>
            <a:ext cx="3911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Robots come in many shapes and sizes, from the classic humanoid type to dogbots to small cubes that self-assemble to perform a variety of tasks.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19.19</a:t>
            </a:r>
          </a:p>
        </p:txBody>
      </p:sp>
      <p:pic>
        <p:nvPicPr>
          <p:cNvPr id="3" name="Picture 1" descr="This shows a vertical parallel circuit. In the middle of either side there are resistors. The left resistor is labeled R1 = 35Ω. The right resistor is labeled R1 = 55Ω"/>
          <p:cNvPicPr>
            <a:picLocks noGrp="1" noChangeAspect="1"/>
          </p:cNvPicPr>
          <p:nvPr/>
        </p:nvPicPr>
        <p:blipFill>
          <a:blip r:embed="rId3"/>
          <a:stretch>
            <a:fillRect/>
          </a:stretch>
        </p:blipFill>
        <p:spPr bwMode="auto">
          <a:xfrm>
            <a:off x="4318000" y="952500"/>
            <a:ext cx="3568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This shows a vertical parallel circuit. In the middle of either side there are resistors. The left resistor is labeled R1 = 35Ω. The right resistor is labeled R1 = 55Ω</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19.20</a:t>
            </a:r>
          </a:p>
        </p:txBody>
      </p:sp>
      <p:pic>
        <p:nvPicPr>
          <p:cNvPr id="3" name="Picture 1" descr="The left image shows a 25-W light bulb, whereas the right image shows a 60-W light bulb."/>
          <p:cNvPicPr>
            <a:picLocks noGrp="1" noChangeAspect="1"/>
          </p:cNvPicPr>
          <p:nvPr/>
        </p:nvPicPr>
        <p:blipFill>
          <a:blip r:embed="rId3"/>
          <a:stretch>
            <a:fillRect/>
          </a:stretch>
        </p:blipFill>
        <p:spPr bwMode="auto">
          <a:xfrm>
            <a:off x="2679700" y="952500"/>
            <a:ext cx="6819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On the left is a 25-W light bulb, and on the right is a 60-W light bulb. Why are their power outputs different despite their operating on the same voltage?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19.21</a:t>
            </a:r>
          </a:p>
        </p:txBody>
      </p:sp>
      <p:pic>
        <p:nvPicPr>
          <p:cNvPr id="3" name="Picture 1" descr="A circuit diagram with one resistor and one battery is shown."/>
          <p:cNvPicPr>
            <a:picLocks noGrp="1" noChangeAspect="1"/>
          </p:cNvPicPr>
          <p:nvPr/>
        </p:nvPicPr>
        <p:blipFill>
          <a:blip r:embed="rId3"/>
          <a:stretch>
            <a:fillRect/>
          </a:stretch>
        </p:blipFill>
        <p:spPr bwMode="auto">
          <a:xfrm>
            <a:off x="609600" y="1308100"/>
            <a:ext cx="10972800" cy="39497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simple circuit that consumes electric power.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19.22</a:t>
            </a:r>
          </a:p>
        </p:txBody>
      </p:sp>
      <p:pic>
        <p:nvPicPr>
          <p:cNvPr id="3" name="Picture 1" descr="A formula wheel relating power, voltage, current, and resistance."/>
          <p:cNvPicPr>
            <a:picLocks noGrp="1" noChangeAspect="1"/>
          </p:cNvPicPr>
          <p:nvPr/>
        </p:nvPicPr>
        <p:blipFill>
          <a:blip r:embed="rId3"/>
          <a:stretch>
            <a:fillRect/>
          </a:stretch>
        </p:blipFill>
        <p:spPr bwMode="auto">
          <a:xfrm>
            <a:off x="3683000" y="952500"/>
            <a:ext cx="4826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formula wheel shows how volts, resistance, current, and power are related. The quantities in the inner quarter circles equal the quantities in the corresponding outer quarter circles.</a:t>
            </a:r>
          </a:p>
        </p:txBody>
      </p:sp>
      <p:sp>
        <p:nvSpPr>
          <p:cNvPr id="5" name="TextBox 4">
            <a:extLst>
              <a:ext uri="{FF2B5EF4-FFF2-40B4-BE49-F238E27FC236}">
                <a16:creationId xmlns:a16="http://schemas.microsoft.com/office/drawing/2014/main" id="{4486FF4F-A957-EA87-3B62-803F5B7FCF7E}"/>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1692</Words>
  <Application>Microsoft Macintosh PowerPoint</Application>
  <PresentationFormat>Widescreen</PresentationFormat>
  <Paragraphs>96</Paragraphs>
  <Slides>24</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Physics</vt:lpstr>
      <vt:lpstr>Chapter outline</vt:lpstr>
      <vt:lpstr>Figure 19.1</vt:lpstr>
      <vt:lpstr>Figure 19.2</vt:lpstr>
      <vt:lpstr>Figure 19.3</vt:lpstr>
      <vt:lpstr>Figure 19.4</vt:lpstr>
      <vt:lpstr>Figure 19.5</vt:lpstr>
      <vt:lpstr>Figure 19.6</vt:lpstr>
      <vt:lpstr>Figure 19.7</vt:lpstr>
      <vt:lpstr>Figure 19.8</vt:lpstr>
      <vt:lpstr>Figure 19.9</vt:lpstr>
      <vt:lpstr>Figure 19.10</vt:lpstr>
      <vt:lpstr>Figure 19.11</vt:lpstr>
      <vt:lpstr>Figure 19.12</vt:lpstr>
      <vt:lpstr>Figure 19.13</vt:lpstr>
      <vt:lpstr>Figure 19.14</vt:lpstr>
      <vt:lpstr>Figure 19.15</vt:lpstr>
      <vt:lpstr>Figure 19.16</vt:lpstr>
      <vt:lpstr>Figure 19.17</vt:lpstr>
      <vt:lpstr>Figure 19.18</vt:lpstr>
      <vt:lpstr>Figure 19.19</vt:lpstr>
      <vt:lpstr>Figure 19.20</vt:lpstr>
      <vt:lpstr>Figure 19.21</vt:lpstr>
      <vt:lpstr>Figure 19.22</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2025-12-17T21:04:21Z</dcterms:created>
  <dcterms:modified xsi:type="dcterms:W3CDTF">2025-12-17T21:35:17Z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19 Electrical Circuits</vt:lpwstr>
  </property>
</Properties>
</file>